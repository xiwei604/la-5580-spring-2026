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67" r:id="rId2"/>
    <p:sldId id="369" r:id="rId3"/>
    <p:sldId id="360" r:id="rId4"/>
    <p:sldId id="361" r:id="rId5"/>
    <p:sldId id="371" r:id="rId6"/>
    <p:sldId id="385" r:id="rId7"/>
    <p:sldId id="394" r:id="rId8"/>
    <p:sldId id="383" r:id="rId9"/>
    <p:sldId id="384" r:id="rId10"/>
    <p:sldId id="3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13"/>
    <p:restoredTop sz="80204"/>
  </p:normalViewPr>
  <p:slideViewPr>
    <p:cSldViewPr snapToGrid="0">
      <p:cViewPr varScale="1">
        <p:scale>
          <a:sx n="97" d="100"/>
          <a:sy n="97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43BA3-0297-444E-B74B-90E6FDA995C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08FA7-1084-3D42-B966-488A12578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4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08FA7-1084-3D42-B966-488A125783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93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3F71-81B0-262F-6A16-0D0FD9E5D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04475-0202-0854-8551-264095814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2A96B-6FDD-9B84-619A-9760B459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47148-F256-6894-FDC6-9118D4B8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EF98D-FF40-77D7-6ED3-62956F3A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8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D08F-49FF-79E8-D2FA-AFB324AE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1E53-8E70-6F29-715A-A53CEDF4F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4DF4-4C63-C024-8D35-96B6EE47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967B-1E63-810B-3DB4-49EA6463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4B76-0F54-C7BB-5757-63DDAE49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5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39D8-3D46-D4BE-0823-9410223A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2D87B-FB12-4D52-5B27-3A6AAC71D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ED72E-B01D-E858-995C-05538BC6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53285-2F1C-ED11-747B-A71C798D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F89F-8DF9-CC7C-8205-9E2C99BF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4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C634-BE36-CD93-1B46-ED66246B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A6193-6424-C76E-A5BB-11FDD8B4F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27A1E-B431-E0F9-156A-98A08401F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D85B6-5CCE-1A66-8F6E-E769FF07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8E582-5EEF-7C85-ADEA-15E2C08F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6D36D-1ECF-EF00-2B85-9FB0F1BA1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5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4584-7272-1EC2-67A7-593518AF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E8B3-AEAF-0B4A-6D25-CEC25E8BD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84584-43C5-AE69-BFAA-9FDA398FA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1F6F8-8089-D192-8774-61083E8F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1AA09-7044-FA90-9B34-13CE1EB5B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791E7-8C02-D03B-5775-933312A5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C1531-0DFF-18EB-C547-717A51FCA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3C897-2023-9DE2-4CDC-86EC62F6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2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ED20-804F-FEB1-F01D-8B804829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96B2A-0B41-EBEE-F889-B37FE0AF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54320-948F-6246-9A51-95883D0A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F37E7-0E6D-07AA-67E2-7C2A0977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4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F5435-BF3B-0695-34D4-9C6D804E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3DE9D-2883-CD25-B3F5-06B13403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04AEC-AAB8-482B-25CB-886FDF33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0964-15BF-50CD-794D-37BF8EC8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B4BC-6A4A-71EC-F692-5B391239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0A36E-75B0-DC15-B194-BAC601F6D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4A99E-698B-1E10-2B90-6F933C33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354D7-5DDA-8262-B488-8F282C53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9B067-652F-7B3B-BD00-99709734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0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66EC-A2AC-8C4B-FCD0-A65BD934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B1BE2-C1CC-CEBD-2D30-77EC044BE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1AE47-9F14-0E0D-0AB3-2599ADC22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77FD8-EC01-D411-FE36-68D713E2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5D5F0-DE78-3602-93EB-D7C651DF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C242-C81B-B0EA-B148-948D7393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0B46-B512-4929-27F3-C088C313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EA26F-42A0-01CC-349E-4EC716122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CF0F6-E73B-1872-122A-4545FF04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B21F2-0F66-FD46-0872-54B6FE6D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C475E-4CA2-D9F3-24C3-9F53CAF0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3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3743B-66B2-01A4-F8D7-E157DA23D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E7239-9200-A5C0-10BD-6FF053096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BF07-9677-E297-9B6B-26B4AE2A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B2DC1-3472-18F2-B6D6-3353CD01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C393F-F652-6B30-B44D-968DFEBD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8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D71AE-9262-CD7F-49AF-985CA769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7B3DF-62E2-2C1F-28FD-877AB1CF1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67E-1E79-DFBB-3DFF-7B6926F81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303B8-7148-7B45-8996-4879918F79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D479F-FB0B-6BD1-2959-385DB916A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31EC1-8906-4A49-E29E-89867AE56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08689-2584-7B44-B5DF-3B8EA6E11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1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FAA05-CD09-8A89-9075-1732D600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Product Comparison Guide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D0F35-DFB6-E761-CFB8-D9780F619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4527804" y="643466"/>
            <a:ext cx="766419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9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334FC-7C67-D501-45BA-5606243B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0110A8C7-4A54-3441-3D0E-7140A26F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C2A4A-E1F7-6028-922A-2643C2C06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Product Comparison Guide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6246B-AF5D-9CA3-FC68-1D7021CF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4527804" y="843831"/>
            <a:ext cx="7664196" cy="47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6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0084D-A7AA-144F-5701-8B4B99CFD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237" y="512759"/>
            <a:ext cx="6732406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2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7F849-9719-EA16-BADF-61630415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983" y="516146"/>
            <a:ext cx="8538033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968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E7F0-AB41-2A82-75B7-19E77B2F6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4"/>
            <a:ext cx="2808514" cy="4664075"/>
          </a:xfrm>
        </p:spPr>
        <p:txBody>
          <a:bodyPr>
            <a:normAutofit/>
          </a:bodyPr>
          <a:lstStyle/>
          <a:p>
            <a:r>
              <a:rPr lang="en-US" dirty="0"/>
              <a:t>Data Source Interface</a:t>
            </a:r>
            <a:br>
              <a:rPr lang="en-US" dirty="0"/>
            </a:br>
            <a:br>
              <a:rPr lang="en-US" dirty="0"/>
            </a:br>
            <a:r>
              <a:rPr lang="en-US" sz="3100" dirty="0"/>
              <a:t>Source:</a:t>
            </a:r>
            <a:br>
              <a:rPr lang="en-US" sz="3100" dirty="0"/>
            </a:br>
            <a:r>
              <a:rPr lang="en-US" sz="3100" dirty="0"/>
              <a:t>Tableau Help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79F803-2442-8157-A124-018751D61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" t="3333"/>
          <a:stretch>
            <a:fillRect/>
          </a:stretch>
        </p:blipFill>
        <p:spPr bwMode="auto">
          <a:xfrm>
            <a:off x="2819400" y="522582"/>
            <a:ext cx="9144000" cy="581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37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BE4ED-3B0E-E55F-98F6-4F15D51D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6FA7-1CE3-71DF-699A-8A623F49E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4"/>
            <a:ext cx="2808514" cy="4664075"/>
          </a:xfrm>
        </p:spPr>
        <p:txBody>
          <a:bodyPr>
            <a:normAutofit/>
          </a:bodyPr>
          <a:lstStyle/>
          <a:p>
            <a:r>
              <a:rPr lang="en-US" dirty="0" err="1"/>
              <a:t>WorkspaceInterface</a:t>
            </a:r>
            <a:br>
              <a:rPr lang="en-US" dirty="0"/>
            </a:br>
            <a:br>
              <a:rPr lang="en-US" dirty="0"/>
            </a:br>
            <a:r>
              <a:rPr lang="en-US" sz="3100" dirty="0"/>
              <a:t>Source:</a:t>
            </a:r>
            <a:br>
              <a:rPr lang="en-US" sz="3100" dirty="0"/>
            </a:br>
            <a:r>
              <a:rPr lang="en-US" sz="3100" dirty="0"/>
              <a:t>O’Reilly </a:t>
            </a:r>
            <a:r>
              <a:rPr lang="en-US" sz="3100" i="1" dirty="0"/>
              <a:t>Mastering Tableau</a:t>
            </a:r>
            <a:r>
              <a:rPr lang="en-US" sz="3100" dirty="0"/>
              <a:t> by David Baldwin</a:t>
            </a:r>
            <a:br>
              <a:rPr lang="en-US" sz="3100" b="1" dirty="0"/>
            </a:br>
            <a:endParaRPr lang="en-US" sz="3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7F710-749D-153B-F592-BF79ECEC3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13" y="0"/>
            <a:ext cx="9029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0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0BA4-B18C-C10E-21A5-890AC27F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7653-B578-592C-09DA-167DBA01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4"/>
            <a:ext cx="2808514" cy="4664075"/>
          </a:xfrm>
        </p:spPr>
        <p:txBody>
          <a:bodyPr>
            <a:normAutofit/>
          </a:bodyPr>
          <a:lstStyle/>
          <a:p>
            <a:r>
              <a:rPr lang="en-US" dirty="0"/>
              <a:t>Dashboard</a:t>
            </a:r>
            <a:br>
              <a:rPr lang="en-US" dirty="0"/>
            </a:br>
            <a:r>
              <a:rPr lang="en-US" dirty="0"/>
              <a:t>Interface</a:t>
            </a:r>
            <a:br>
              <a:rPr lang="en-US" dirty="0"/>
            </a:br>
            <a:br>
              <a:rPr lang="en-US" dirty="0"/>
            </a:br>
            <a:r>
              <a:rPr lang="en-US" sz="3100" dirty="0"/>
              <a:t>Source:</a:t>
            </a:r>
            <a:br>
              <a:rPr lang="en-US" sz="3100" dirty="0"/>
            </a:br>
            <a:r>
              <a:rPr lang="en-US" sz="3100" dirty="0"/>
              <a:t>O’Reilly </a:t>
            </a:r>
            <a:r>
              <a:rPr lang="en-US" sz="3100" i="1" dirty="0"/>
              <a:t>Mastering Tableau</a:t>
            </a:r>
            <a:r>
              <a:rPr lang="en-US" sz="3100" dirty="0"/>
              <a:t> by David Baldwin</a:t>
            </a:r>
            <a:br>
              <a:rPr lang="en-US" sz="3100" b="1" dirty="0"/>
            </a:br>
            <a:endParaRPr lang="en-US" sz="3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BEFD52-D4C8-6AB6-F84F-49C73A5465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r="5355"/>
          <a:stretch>
            <a:fillRect/>
          </a:stretch>
        </p:blipFill>
        <p:spPr bwMode="auto">
          <a:xfrm>
            <a:off x="3157918" y="145051"/>
            <a:ext cx="8936205" cy="618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70552E-9C38-8E9C-D075-ACD476E5AF7A}"/>
              </a:ext>
            </a:extLst>
          </p:cNvPr>
          <p:cNvSpPr txBox="1"/>
          <p:nvPr/>
        </p:nvSpPr>
        <p:spPr>
          <a:xfrm>
            <a:off x="6831913" y="6332801"/>
            <a:ext cx="5262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b="1" dirty="0"/>
              <a:t>The Tableau Desktop workspace/interface guide by Jason Khu</a:t>
            </a:r>
            <a:br>
              <a:rPr lang="en-US" sz="1200" b="1" dirty="0"/>
            </a:br>
            <a:r>
              <a:rPr lang="en-US" sz="1200" b="1" dirty="0"/>
              <a:t>https://</a:t>
            </a:r>
            <a:r>
              <a:rPr lang="en-US" sz="1200" b="1" dirty="0" err="1"/>
              <a:t>jason-khu.com</a:t>
            </a:r>
            <a:r>
              <a:rPr lang="en-US" sz="1200" b="1" dirty="0"/>
              <a:t>/the-tableau-desktop-workspace-interface-guide/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3658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9D102-0417-EF04-1343-1D6F7E478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0227"/>
            <a:ext cx="9144000" cy="6467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A shorter answer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EAD11-482F-DDC4-3577-1C969AE2FD6D}"/>
              </a:ext>
            </a:extLst>
          </p:cNvPr>
          <p:cNvSpPr txBox="1"/>
          <p:nvPr/>
        </p:nvSpPr>
        <p:spPr>
          <a:xfrm>
            <a:off x="800100" y="5234159"/>
            <a:ext cx="10629900" cy="1049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3600" dirty="0"/>
              <a:t>Dimensions usually cannot be aggregated (summed, averaged </a:t>
            </a:r>
            <a:r>
              <a:rPr lang="en-US" sz="3600" dirty="0" err="1"/>
              <a:t>etc</a:t>
            </a:r>
            <a:r>
              <a:rPr lang="en-US" sz="3600" dirty="0"/>
              <a:t>), whereas measures can be.</a:t>
            </a:r>
          </a:p>
        </p:txBody>
      </p:sp>
      <p:pic>
        <p:nvPicPr>
          <p:cNvPr id="2050" name="Picture 2" descr="Blue And Green Pills - What Do They Mean Tableau? - The Data ...">
            <a:extLst>
              <a:ext uri="{FF2B5EF4-FFF2-40B4-BE49-F238E27FC236}">
                <a16:creationId xmlns:a16="http://schemas.microsoft.com/office/drawing/2014/main" id="{AABD8906-491F-113F-93DE-C832C28A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6"/>
          <a:stretch>
            <a:fillRect/>
          </a:stretch>
        </p:blipFill>
        <p:spPr bwMode="auto"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7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F54E-D8C7-6E82-A163-73A8A180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C4F9-37C1-1F07-B115-D6E2B622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Categories: Dimension vs Measures</a:t>
            </a:r>
            <a:br>
              <a:rPr lang="en-US" dirty="0"/>
            </a:br>
            <a:r>
              <a:rPr lang="en-US" dirty="0"/>
              <a:t>Blue and Green Pills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A3A10-609B-D0C0-4BD2-4AE5FD65D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i="1" dirty="0"/>
              <a:t>Dimensions </a:t>
            </a:r>
            <a:r>
              <a:rPr lang="en-US" dirty="0"/>
              <a:t>are qualitative, meaning they can't be measured but are instead described. Dimensions are often things like city or country, eye color, category, team name, etc. Dimensions are usually discrete.</a:t>
            </a:r>
          </a:p>
          <a:p>
            <a:r>
              <a:rPr lang="en-US" i="1" dirty="0"/>
              <a:t>Measures </a:t>
            </a:r>
            <a:r>
              <a:rPr lang="en-US" dirty="0"/>
              <a:t>are quantitative, meaning they can be measured and recorded with numbers. Measures can be things like sales, height, clicks, etc. In Tableau Desktop, measures are automatically aggregated; the default aggregation is SUM. Measures are usually continuous.</a:t>
            </a:r>
          </a:p>
        </p:txBody>
      </p:sp>
    </p:spTree>
    <p:extLst>
      <p:ext uri="{BB962C8B-B14F-4D97-AF65-F5344CB8AC3E}">
        <p14:creationId xmlns:p14="http://schemas.microsoft.com/office/powerpoint/2010/main" val="131726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6139-E263-346A-8CF5-CB1A0E9E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8C99-4DBC-CD66-B896-83CB4297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Categories: Dimension vs Measures</a:t>
            </a:r>
            <a:br>
              <a:rPr lang="en-US" dirty="0"/>
            </a:br>
            <a:r>
              <a:rPr lang="en-US" dirty="0"/>
              <a:t>Blue and Green Pills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41599-D5C9-24D8-3D5E-05E6A16A4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i="1" dirty="0"/>
              <a:t>Discrete </a:t>
            </a:r>
            <a:r>
              <a:rPr lang="en-US" dirty="0"/>
              <a:t>means individually separate or distinct. Toyota is distinct from Mazda. In Tableau Desktop, discrete values come into the view as a label and they create panes.</a:t>
            </a:r>
          </a:p>
          <a:p>
            <a:r>
              <a:rPr lang="en-US" i="1" dirty="0"/>
              <a:t>Continuous </a:t>
            </a:r>
            <a:r>
              <a:rPr lang="en-US" dirty="0"/>
              <a:t>means forming an unbroken, continuous whole. 7 is followed by 8 and then it's the same distance to 9, and 7.5 would fall midway between 7 and 8. In Tableau Desktop, continuous values come into the view as an axis.</a:t>
            </a:r>
          </a:p>
          <a:p>
            <a:r>
              <a:rPr lang="en-US" dirty="0"/>
              <a:t>Dimensions are usually discrete, and measures are usually continuous. However, this is not always the case. Dates can be either discrete or continuous.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93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6895</TotalTime>
  <Words>299</Words>
  <Application>Microsoft Macintosh PowerPoint</Application>
  <PresentationFormat>Widescreen</PresentationFormat>
  <Paragraphs>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Product Comparison Guide</vt:lpstr>
      <vt:lpstr>Product Comparison Guide</vt:lpstr>
      <vt:lpstr>PowerPoint Presentation</vt:lpstr>
      <vt:lpstr>PowerPoint Presentation</vt:lpstr>
      <vt:lpstr>Data Source Interface  Source: Tableau Help</vt:lpstr>
      <vt:lpstr>WorkspaceInterface  Source: O’Reilly Mastering Tableau by David Baldwin </vt:lpstr>
      <vt:lpstr>Dashboard Interface  Source: O’Reilly Mastering Tableau by David Baldwin </vt:lpstr>
      <vt:lpstr>A shorter answer …</vt:lpstr>
      <vt:lpstr>Data Categories: Dimension vs Measures Blue and Green Pills</vt:lpstr>
      <vt:lpstr>Data Categories: Dimension vs Measures Blue and Green Pills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Seeger, Christopher J [L A]</dc:creator>
  <cp:lastModifiedBy>Christopher Seeger</cp:lastModifiedBy>
  <cp:revision>73</cp:revision>
  <dcterms:created xsi:type="dcterms:W3CDTF">2024-10-01T02:46:33Z</dcterms:created>
  <dcterms:modified xsi:type="dcterms:W3CDTF">2026-02-05T14:42:42Z</dcterms:modified>
</cp:coreProperties>
</file>